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1" roundtripDataSignature="AMtx7mjBAP36bo1VRT5IoN7JmDyap6qR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https://buttaiwan.github.io/bpmfvs/</a:t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7988f7714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g3e7988f771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https://buttaiwan.github.io/bpmfvs/</a:t>
            </a:r>
            <a:endParaRPr/>
          </a:p>
        </p:txBody>
      </p:sp>
      <p:sp>
        <p:nvSpPr>
          <p:cNvPr id="112" name="Google Shape;112;g3e7988f771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7988f7714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e7988f7714_0_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7988f7714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e7988f7714_0_3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s1_bpmf_1.png"/><Relationship Id="rId4" Type="http://schemas.openxmlformats.org/officeDocument/2006/relationships/image" Target="../media/s1_bpmf_2.png"/><Relationship Id="rId5" Type="http://schemas.openxmlformats.org/officeDocument/2006/relationships/image" Target="../media/s1_bpmf_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s2_bpmf_1.png"/><Relationship Id="rId4" Type="http://schemas.openxmlformats.org/officeDocument/2006/relationships/image" Target="../media/s2_bpmf_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pmf_img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165" y="350000"/>
            <a:ext cx="187147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pinyin_4"/>
          <p:cNvSpPr txBox="1"/>
          <p:nvPr/>
        </p:nvSpPr>
        <p:spPr>
          <a:xfrm>
            <a:off x="168165" y="868912"/>
            <a:ext cx="880767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Zēng  zǐ   yuē</a:t>
            </a:r>
            <a:r>
              <a:rPr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english_5"/>
          <p:cNvSpPr txBox="1"/>
          <p:nvPr/>
        </p:nvSpPr>
        <p:spPr>
          <a:xfrm>
            <a:off x="168165" y="1448912"/>
            <a:ext cx="880767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none">
                <a:solidFill>
                  <a:schemeClr val="dk2"/>
                </a:solidFill>
                <a:latin typeface="Calibri"/>
                <a:ea typeface="Calibri"/>
                <a:cs typeface="Calibri"/>
              </a:rPr>
              <a:t>Zeng Zi said,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5" name="bpmf_img_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8165" y="2498912"/>
            <a:ext cx="4011168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pinyin_7"/>
          <p:cNvSpPr txBox="1"/>
          <p:nvPr/>
        </p:nvSpPr>
        <p:spPr>
          <a:xfrm>
            <a:off x="168165" y="3036112"/>
            <a:ext cx="880767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Wú   rì   sān   xǐng   wú   shēn</a:t>
            </a:r>
            <a:r>
              <a:rPr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english_8"/>
          <p:cNvSpPr txBox="1"/>
          <p:nvPr/>
        </p:nvSpPr>
        <p:spPr>
          <a:xfrm>
            <a:off x="168165" y="3616112"/>
            <a:ext cx="880767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none">
                <a:solidFill>
                  <a:schemeClr val="dk2"/>
                </a:solidFill>
                <a:latin typeface="Calibri"/>
                <a:ea typeface="Calibri"/>
                <a:cs typeface="Calibri"/>
              </a:rPr>
              <a:t>"I daily examine myself on three points: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8" name="bpmf_img_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8165" y="4616112"/>
            <a:ext cx="4785360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pinyin_10"/>
          <p:cNvSpPr txBox="1"/>
          <p:nvPr/>
        </p:nvSpPr>
        <p:spPr>
          <a:xfrm>
            <a:off x="168165" y="5135024"/>
            <a:ext cx="880767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Wèi   rén   móu   ér   bù   zhōng   hū</a:t>
            </a:r>
            <a:r>
              <a:rPr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?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english_11"/>
          <p:cNvSpPr txBox="1"/>
          <p:nvPr/>
        </p:nvSpPr>
        <p:spPr>
          <a:xfrm>
            <a:off x="168165" y="5715024"/>
            <a:ext cx="880767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none">
                <a:solidFill>
                  <a:schemeClr val="dk2"/>
                </a:solidFill>
                <a:latin typeface="Calibri"/>
                <a:ea typeface="Calibri"/>
                <a:cs typeface="Calibri"/>
              </a:rPr>
              <a:t>whether, in transacting business for others, I may have been not faithful;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pmf_img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165" y="350000"/>
            <a:ext cx="5480304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pinyin_4"/>
          <p:cNvSpPr txBox="1"/>
          <p:nvPr/>
        </p:nvSpPr>
        <p:spPr>
          <a:xfrm>
            <a:off x="168165" y="868912"/>
            <a:ext cx="880767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Yǔ   péng   yǒu   jiāo   ér   bù   xìn   hū</a:t>
            </a:r>
            <a:r>
              <a:rPr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?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english_5"/>
          <p:cNvSpPr txBox="1"/>
          <p:nvPr/>
        </p:nvSpPr>
        <p:spPr>
          <a:xfrm>
            <a:off x="168165" y="1448912"/>
            <a:ext cx="880767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none">
                <a:solidFill>
                  <a:schemeClr val="dk2"/>
                </a:solidFill>
                <a:latin typeface="Calibri"/>
                <a:ea typeface="Calibri"/>
                <a:cs typeface="Calibri"/>
              </a:rPr>
              <a:t>whether, in intercourse with friends, I may have been not sincere;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5" name="bpmf_img_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8165" y="2448912"/>
            <a:ext cx="2987040" cy="45110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pinyin_7"/>
          <p:cNvSpPr txBox="1"/>
          <p:nvPr/>
        </p:nvSpPr>
        <p:spPr>
          <a:xfrm>
            <a:off x="168165" y="2980016"/>
            <a:ext cx="880767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Chuán   bù   xí   hū</a:t>
            </a:r>
            <a:r>
              <a:rPr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?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english_8"/>
          <p:cNvSpPr txBox="1"/>
          <p:nvPr/>
        </p:nvSpPr>
        <p:spPr>
          <a:xfrm>
            <a:off x="168165" y="3560016"/>
            <a:ext cx="880767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none">
                <a:solidFill>
                  <a:schemeClr val="dk2"/>
                </a:solidFill>
                <a:latin typeface="Calibri"/>
                <a:ea typeface="Calibri"/>
                <a:cs typeface="Calibri"/>
              </a:rPr>
              <a:t>whether I may have not mastered and practiced the instructions of my teacher.”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7988f7714_0_0"/>
          <p:cNvSpPr txBox="1"/>
          <p:nvPr/>
        </p:nvSpPr>
        <p:spPr>
          <a:xfrm>
            <a:off x="147150" y="4186925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Qí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wéi rén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yě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xiào tì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,  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ér hào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fàn shàng zhě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 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xiǎn yǐ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;</a:t>
            </a:r>
            <a:endParaRPr/>
          </a:p>
        </p:txBody>
      </p:sp>
      <p:sp>
        <p:nvSpPr>
          <p:cNvPr id="115" name="Google Shape;115;g3e7988f7714_0_0"/>
          <p:cNvSpPr txBox="1"/>
          <p:nvPr/>
        </p:nvSpPr>
        <p:spPr>
          <a:xfrm>
            <a:off x="168165" y="4931115"/>
            <a:ext cx="8807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"A person who is filial and respectful to his elders is rarely one who would defy his superiors! </a:t>
            </a: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3e7988f7714_0_0"/>
          <p:cNvSpPr txBox="1"/>
          <p:nvPr/>
        </p:nvSpPr>
        <p:spPr>
          <a:xfrm>
            <a:off x="299554" y="1103875"/>
            <a:ext cx="327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Yǒu  zǐ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yuē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:</a:t>
            </a:r>
            <a:endParaRPr/>
          </a:p>
        </p:txBody>
      </p:sp>
      <p:sp>
        <p:nvSpPr>
          <p:cNvPr id="117" name="Google Shape;117;g3e7988f7714_0_0"/>
          <p:cNvSpPr txBox="1"/>
          <p:nvPr/>
        </p:nvSpPr>
        <p:spPr>
          <a:xfrm>
            <a:off x="299545" y="1953504"/>
            <a:ext cx="4582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You Zi said, </a:t>
            </a:r>
            <a:endParaRPr sz="1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g3e7988f7714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353" y="524558"/>
            <a:ext cx="270510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3e7988f7714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72789" y="3605833"/>
            <a:ext cx="9289627" cy="639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7988f7714_0_19"/>
          <p:cNvSpPr txBox="1"/>
          <p:nvPr/>
        </p:nvSpPr>
        <p:spPr>
          <a:xfrm>
            <a:off x="31531" y="4144887"/>
            <a:ext cx="8954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Jūn   zǐ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wù  běn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,    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běn   lì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ér  dào  shēng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;</a:t>
            </a:r>
            <a:endParaRPr/>
          </a:p>
        </p:txBody>
      </p:sp>
      <p:sp>
        <p:nvSpPr>
          <p:cNvPr id="125" name="Google Shape;125;g3e7988f7714_0_19"/>
          <p:cNvSpPr txBox="1"/>
          <p:nvPr/>
        </p:nvSpPr>
        <p:spPr>
          <a:xfrm>
            <a:off x="168165" y="4874468"/>
            <a:ext cx="8807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 junzi concerns himself with the fundamentals. Once the fundamentals are established, Tao arises. </a:t>
            </a: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3e7988f7714_0_19"/>
          <p:cNvSpPr txBox="1"/>
          <p:nvPr/>
        </p:nvSpPr>
        <p:spPr>
          <a:xfrm>
            <a:off x="-55023" y="1058423"/>
            <a:ext cx="914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Bú hào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fàn shàng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 </a:t>
            </a:r>
            <a:r>
              <a:rPr lang="en-US" sz="3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ér hào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zuò luàn zhě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 </a:t>
            </a:r>
            <a:r>
              <a:rPr lang="en-US" sz="3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wèi zhī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yǒu yě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000"/>
          </a:p>
        </p:txBody>
      </p:sp>
      <p:sp>
        <p:nvSpPr>
          <p:cNvPr id="127" name="Google Shape;127;g3e7988f7714_0_19"/>
          <p:cNvSpPr txBox="1"/>
          <p:nvPr/>
        </p:nvSpPr>
        <p:spPr>
          <a:xfrm>
            <a:off x="299545" y="1866510"/>
            <a:ext cx="83925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And one who does not defy his superiors, yet is fond of creating chaos, has never existed. </a:t>
            </a:r>
            <a:endParaRPr sz="1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g3e7988f7714_0_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82395" y="3762132"/>
            <a:ext cx="265048" cy="374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g3e7988f7714_0_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74375"/>
            <a:ext cx="8954700" cy="531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g3e7988f7714_0_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3581268"/>
            <a:ext cx="7715250" cy="69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7988f7714_0_38"/>
          <p:cNvSpPr txBox="1"/>
          <p:nvPr/>
        </p:nvSpPr>
        <p:spPr>
          <a:xfrm>
            <a:off x="43497" y="1108975"/>
            <a:ext cx="9065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Xiào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tì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yě 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zhě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qí 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wèi 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rén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zhī 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běn 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yú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136" name="Google Shape;136;g3e7988f7714_0_38"/>
          <p:cNvSpPr txBox="1"/>
          <p:nvPr/>
        </p:nvSpPr>
        <p:spPr>
          <a:xfrm>
            <a:off x="247053" y="1838568"/>
            <a:ext cx="8807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Aren</a:t>
            </a: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'</a:t>
            </a: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 filial piety and fraternal submission the fundamentals of benevolence?</a:t>
            </a: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''</a:t>
            </a: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g3e7988f7714_0_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97" y="506668"/>
            <a:ext cx="8839200" cy="6785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shun</dc:creator>
</cp:coreProperties>
</file>