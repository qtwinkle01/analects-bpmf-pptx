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BAP36bo1VRT5IoN7JmDyap6qR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https://buttaiwan.github.io/bpmfvs/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7988f7714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e7988f771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https://buttaiwan.github.io/bpmfvs/</a:t>
            </a:r>
            <a:endParaRPr/>
          </a:p>
        </p:txBody>
      </p:sp>
      <p:sp>
        <p:nvSpPr>
          <p:cNvPr id="112" name="Google Shape;112;g3e7988f771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7988f771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7988f7714_0_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7988f7714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7988f7714_0_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47145" y="4186927"/>
            <a:ext cx="88076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Xué  ér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shí   xí    zhī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,     </a:t>
            </a: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   yì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yuè  hū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?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68165" y="4931115"/>
            <a:ext cx="880766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"Is it not pleasant to learn with constant perseverance and application?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425226"/>
            <a:ext cx="2072820" cy="815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545" y="3619213"/>
            <a:ext cx="7780694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299545" y="1103877"/>
            <a:ext cx="18445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Zǐ   yuē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: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99545" y="1953504"/>
            <a:ext cx="45825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Master said, </a:t>
            </a:r>
            <a:endParaRPr sz="1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4715" y="3762132"/>
            <a:ext cx="281902" cy="398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31531" y="4144887"/>
            <a:ext cx="89548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Rén bù  zhī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ér   bú  yùn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, 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  yì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jūn   zǐ    hū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?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68165" y="4874468"/>
            <a:ext cx="880766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 he not a junzi of complete virtue, who feels no discomposure though men may take no note of him?"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84079" y="1029425"/>
            <a:ext cx="88444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Yǒu péng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zì  yuǎn fāng lái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,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   yì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lè    hū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?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99545" y="1953504"/>
            <a:ext cx="839251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 it not delightful to have friends coming far from distant quarters?  </a:t>
            </a:r>
            <a:endParaRPr sz="1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625" y="558244"/>
            <a:ext cx="8047417" cy="586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30" y="3655925"/>
            <a:ext cx="9144000" cy="57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8095" y="660792"/>
            <a:ext cx="281902" cy="398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3755" y="3762132"/>
            <a:ext cx="281902" cy="398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2395" y="3762132"/>
            <a:ext cx="265048" cy="374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988f7714_0_0"/>
          <p:cNvSpPr txBox="1"/>
          <p:nvPr/>
        </p:nvSpPr>
        <p:spPr>
          <a:xfrm>
            <a:off x="147150" y="4186925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Qí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wéi rén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yě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xiào tì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,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ér hào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fàn shàng zhě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xiǎn yǐ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</a:t>
            </a:r>
            <a:endParaRPr/>
          </a:p>
        </p:txBody>
      </p:sp>
      <p:sp>
        <p:nvSpPr>
          <p:cNvPr id="115" name="Google Shape;115;g3e7988f7714_0_0"/>
          <p:cNvSpPr txBox="1"/>
          <p:nvPr/>
        </p:nvSpPr>
        <p:spPr>
          <a:xfrm>
            <a:off x="168165" y="4931115"/>
            <a:ext cx="8807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"A person who is filial and respectful to his elders is rarely one who would defy his superiors!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7988f7714_0_0"/>
          <p:cNvSpPr txBox="1"/>
          <p:nvPr/>
        </p:nvSpPr>
        <p:spPr>
          <a:xfrm>
            <a:off x="299554" y="1103875"/>
            <a:ext cx="327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Yǒu  zǐ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yuē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:</a:t>
            </a:r>
            <a:endParaRPr/>
          </a:p>
        </p:txBody>
      </p:sp>
      <p:sp>
        <p:nvSpPr>
          <p:cNvPr id="117" name="Google Shape;117;g3e7988f7714_0_0"/>
          <p:cNvSpPr txBox="1"/>
          <p:nvPr/>
        </p:nvSpPr>
        <p:spPr>
          <a:xfrm>
            <a:off x="299545" y="1953504"/>
            <a:ext cx="458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You Zi said, </a:t>
            </a:r>
            <a:endParaRPr sz="1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g3e7988f771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353" y="524558"/>
            <a:ext cx="27051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e7988f771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2789" y="3605833"/>
            <a:ext cx="9289627" cy="6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7988f7714_0_19"/>
          <p:cNvSpPr txBox="1"/>
          <p:nvPr/>
        </p:nvSpPr>
        <p:spPr>
          <a:xfrm>
            <a:off x="31531" y="4144887"/>
            <a:ext cx="895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Jūn   zǐ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wù  běn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,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běn   lì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ér  dào  shēng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</a:t>
            </a:r>
            <a:endParaRPr/>
          </a:p>
        </p:txBody>
      </p:sp>
      <p:sp>
        <p:nvSpPr>
          <p:cNvPr id="125" name="Google Shape;125;g3e7988f7714_0_19"/>
          <p:cNvSpPr txBox="1"/>
          <p:nvPr/>
        </p:nvSpPr>
        <p:spPr>
          <a:xfrm>
            <a:off x="168165" y="4874468"/>
            <a:ext cx="8807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junzi concerns himself with the fundamentals. Once the fundamentals are established, Tao arises.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e7988f7714_0_19"/>
          <p:cNvSpPr txBox="1"/>
          <p:nvPr/>
        </p:nvSpPr>
        <p:spPr>
          <a:xfrm>
            <a:off x="-55023" y="1058423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 hào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fàn shàng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ér hào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zuò luàn zhě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wèi zhī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yǒu yě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000"/>
          </a:p>
        </p:txBody>
      </p:sp>
      <p:sp>
        <p:nvSpPr>
          <p:cNvPr id="127" name="Google Shape;127;g3e7988f7714_0_19"/>
          <p:cNvSpPr txBox="1"/>
          <p:nvPr/>
        </p:nvSpPr>
        <p:spPr>
          <a:xfrm>
            <a:off x="299545" y="1866510"/>
            <a:ext cx="8392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And one who does not defy his superiors, yet is fond of creating chaos, has never existed. </a:t>
            </a:r>
            <a:endParaRPr sz="1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3e7988f7714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2395" y="3762132"/>
            <a:ext cx="265048" cy="374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e7988f7714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4375"/>
            <a:ext cx="8954700" cy="53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e7988f7714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581268"/>
            <a:ext cx="77152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988f7714_0_38"/>
          <p:cNvSpPr txBox="1"/>
          <p:nvPr/>
        </p:nvSpPr>
        <p:spPr>
          <a:xfrm>
            <a:off x="43497" y="1108975"/>
            <a:ext cx="9065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Xiào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tì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yě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zhě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qí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wèi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rén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zhī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běn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yú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36" name="Google Shape;136;g3e7988f7714_0_38"/>
          <p:cNvSpPr txBox="1"/>
          <p:nvPr/>
        </p:nvSpPr>
        <p:spPr>
          <a:xfrm>
            <a:off x="247053" y="1838568"/>
            <a:ext cx="8807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Aren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 filial piety and fraternal submission the fundamentals of benevolence?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''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g3e7988f7714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7" y="506668"/>
            <a:ext cx="8839200" cy="678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shun</dc:creator>
</cp:coreProperties>
</file>