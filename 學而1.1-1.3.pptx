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BAP36bo1VRT5IoN7JmDyap6qR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https://buttaiwan.github.io/bpmfvs/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988f7714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e7988f77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https://buttaiwan.github.io/bpmfvs/</a:t>
            </a:r>
            <a:endParaRPr/>
          </a:p>
        </p:txBody>
      </p:sp>
      <p:sp>
        <p:nvSpPr>
          <p:cNvPr id="112" name="Google Shape;112;g3e7988f771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7988f771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7988f7714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7988f771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7988f7714_0_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_img_1.png"/><Relationship Id="rId4" Type="http://schemas.openxmlformats.org/officeDocument/2006/relationships/image" Target="../media/s1_img_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2_img_1.png"/><Relationship Id="rId4" Type="http://schemas.openxmlformats.org/officeDocument/2006/relationships/image" Target="../media/s2_img_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3_img_1.png"/><Relationship Id="rId4" Type="http://schemas.openxmlformats.org/officeDocument/2006/relationships/image" Target="../media/s3_img_2.png"/><Relationship Id="rId5" Type="http://schemas.openxmlformats.org/officeDocument/2006/relationships/image" Target="../media/s3_img_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4_img_1.png"/><Relationship Id="rId4" Type="http://schemas.openxmlformats.org/officeDocument/2006/relationships/image" Target="../media/s4_img_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5_img_1.png"/><Relationship Id="rId4" Type="http://schemas.openxmlformats.org/officeDocument/2006/relationships/image" Target="../media/s5_img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6_img_1.png"/><Relationship Id="rId4" Type="http://schemas.openxmlformats.org/officeDocument/2006/relationships/image" Target="../media/s6_img_2.png"/><Relationship Id="rId5" Type="http://schemas.openxmlformats.org/officeDocument/2006/relationships/image" Target="../media/s6_img_3.png"/><Relationship Id="rId6" Type="http://schemas.openxmlformats.org/officeDocument/2006/relationships/image" Target="../media/s6_img_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7_img_1.png"/><Relationship Id="rId4" Type="http://schemas.openxmlformats.org/officeDocument/2006/relationships/image" Target="../media/s7_img_2.png"/><Relationship Id="rId5" Type="http://schemas.openxmlformats.org/officeDocument/2006/relationships/image" Target="../media/s7_img_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8_img_1.png"/><Relationship Id="rId4" Type="http://schemas.openxmlformats.org/officeDocument/2006/relationships/image" Target="../media/s8_img_2.png"/><Relationship Id="rId5" Type="http://schemas.openxmlformats.org/officeDocument/2006/relationships/image" Target="../media/s8_img_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9_img_1.png"/><Relationship Id="rId4" Type="http://schemas.openxmlformats.org/officeDocument/2006/relationships/image" Target="../media/s9_img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0_img_1.png"/><Relationship Id="rId4" Type="http://schemas.openxmlformats.org/officeDocument/2006/relationships/image" Target="../media/s10_img_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1_img_1.png"/><Relationship Id="rId4" Type="http://schemas.openxmlformats.org/officeDocument/2006/relationships/image" Target="../media/s11_img_2.png"/><Relationship Id="rId5" Type="http://schemas.openxmlformats.org/officeDocument/2006/relationships/image" Target="../media/s11_img_3.png"/><Relationship Id="rId6" Type="http://schemas.openxmlformats.org/officeDocument/2006/relationships/image" Target="../media/s11_img_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2_img_1.png"/><Relationship Id="rId4" Type="http://schemas.openxmlformats.org/officeDocument/2006/relationships/image" Target="../media/s12_img_2.png"/><Relationship Id="rId5" Type="http://schemas.openxmlformats.org/officeDocument/2006/relationships/image" Target="../media/s12_img_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3_img_1.png"/><Relationship Id="rId4" Type="http://schemas.openxmlformats.org/officeDocument/2006/relationships/image" Target="../media/s13_img_2.png"/><Relationship Id="rId5" Type="http://schemas.openxmlformats.org/officeDocument/2006/relationships/image" Target="../media/s13_img_3.png"/><Relationship Id="rId6" Type="http://schemas.openxmlformats.org/officeDocument/2006/relationships/image" Target="../media/s13_img_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s14_img_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4"/>
          <p:cNvSpPr/>
          <p:nvPr/>
        </p:nvSpPr>
        <p:spPr>
          <a:xfrm>
            <a:off x="4122000" y="950000"/>
            <a:ext cx="900000" cy="28000"/>
          </a:xfrm>
          <a:prstGeom prst="rect">
            <a:avLst/>
          </a:prstGeom>
          <a:solidFill>
            <a:srgbClr val="9C362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img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7940" y="1250000"/>
            <a:ext cx="400812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xt6"/>
          <p:cNvSpPr txBox="1"/>
          <p:nvPr/>
        </p:nvSpPr>
        <p:spPr>
          <a:xfrm>
            <a:off x="0" y="2567300"/>
            <a:ext cx="9144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3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Lún yǔ</a:t>
            </a:r>
          </a:p>
        </p:txBody>
      </p:sp>
      <p:pic>
        <p:nvPicPr>
          <p:cNvPr id="7" name="img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6540" y="3197300"/>
            <a:ext cx="3550920" cy="8305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xt8"/>
          <p:cNvSpPr txBox="1"/>
          <p:nvPr/>
        </p:nvSpPr>
        <p:spPr>
          <a:xfrm>
            <a:off x="0" y="4087880"/>
            <a:ext cx="9144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6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Xué ér piān</a:t>
            </a:r>
          </a:p>
        </p:txBody>
      </p:sp>
      <p:sp>
        <p:nvSpPr>
          <p:cNvPr id="9" name="txt9"/>
          <p:cNvSpPr txBox="1"/>
          <p:nvPr/>
        </p:nvSpPr>
        <p:spPr>
          <a:xfrm>
            <a:off x="400000" y="4717880"/>
            <a:ext cx="8344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The Analects of Confucius — Book One · “To Learn”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400000" y="5187880"/>
            <a:ext cx="8344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5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for learners of Chinese · 注音 Zhuyin · 拼音 Pinyin · English</a:t>
            </a:r>
          </a:p>
        </p:txBody>
      </p:sp>
      <p:sp>
        <p:nvSpPr>
          <p:cNvPr id="11" name="rect11"/>
          <p:cNvSpPr/>
          <p:nvPr/>
        </p:nvSpPr>
        <p:spPr>
          <a:xfrm>
            <a:off x="4122000" y="6158000"/>
            <a:ext cx="900000" cy="28000"/>
          </a:xfrm>
          <a:prstGeom prst="rect">
            <a:avLst/>
          </a:prstGeom>
          <a:solidFill>
            <a:srgbClr val="9C3626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介紹 · Introduction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2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2407920" cy="7696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89875" y="15096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Kǒng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1053125" y="15096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zǐ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188165" y="193962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Confucius (551–479 BC) — China's greatest teacher. His students collected his sayings in the Analects.</a:t>
            </a:r>
          </a:p>
        </p:txBody>
      </p:sp>
      <p:pic>
        <p:nvPicPr>
          <p:cNvPr id="12" name="img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569620"/>
            <a:ext cx="469392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xt13"/>
          <p:cNvSpPr txBox="1"/>
          <p:nvPr/>
        </p:nvSpPr>
        <p:spPr>
          <a:xfrm>
            <a:off x="-8987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zěn</a:t>
            </a:r>
          </a:p>
        </p:txBody>
      </p:sp>
      <p:sp>
        <p:nvSpPr>
          <p:cNvPr id="14" name="txt14"/>
          <p:cNvSpPr txBox="1"/>
          <p:nvPr/>
        </p:nvSpPr>
        <p:spPr>
          <a:xfrm>
            <a:off x="105312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me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219612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dú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188165" y="383972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Each page: characters with Zhuyin → Pinyin below each character →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1.1 · Analects 1.1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3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30022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50835" y="13800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Zǐ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809285" y="13800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yuē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188165" y="18100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The Master said,</a:t>
            </a:r>
          </a:p>
        </p:txBody>
      </p:sp>
      <p:pic>
        <p:nvPicPr>
          <p:cNvPr id="12" name="img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300080"/>
            <a:ext cx="8122920" cy="8153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xt13"/>
          <p:cNvSpPr txBox="1"/>
          <p:nvPr/>
        </p:nvSpPr>
        <p:spPr>
          <a:xfrm>
            <a:off x="1053125" y="31554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xué</a:t>
            </a:r>
          </a:p>
        </p:txBody>
      </p:sp>
      <p:sp>
        <p:nvSpPr>
          <p:cNvPr id="14" name="txt14"/>
          <p:cNvSpPr txBox="1"/>
          <p:nvPr/>
        </p:nvSpPr>
        <p:spPr>
          <a:xfrm>
            <a:off x="2196125" y="31554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ér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3339125" y="31554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shí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4482125" y="31554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xí</a:t>
            </a:r>
          </a:p>
        </p:txBody>
      </p:sp>
      <p:sp>
        <p:nvSpPr>
          <p:cNvPr id="17" name="txt17"/>
          <p:cNvSpPr txBox="1"/>
          <p:nvPr/>
        </p:nvSpPr>
        <p:spPr>
          <a:xfrm>
            <a:off x="5625125" y="31554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zhī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188165" y="358542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“To learn and constantly practice what is learned —</a:t>
            </a:r>
          </a:p>
        </p:txBody>
      </p:sp>
      <p:pic>
        <p:nvPicPr>
          <p:cNvPr id="19" name="img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165" y="4075420"/>
            <a:ext cx="5836920" cy="807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xt20"/>
          <p:cNvSpPr txBox="1"/>
          <p:nvPr/>
        </p:nvSpPr>
        <p:spPr>
          <a:xfrm>
            <a:off x="-89875" y="4923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21" name="txt21"/>
          <p:cNvSpPr txBox="1"/>
          <p:nvPr/>
        </p:nvSpPr>
        <p:spPr>
          <a:xfrm>
            <a:off x="1053125" y="4923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yì</a:t>
            </a:r>
          </a:p>
        </p:txBody>
      </p:sp>
      <p:sp>
        <p:nvSpPr>
          <p:cNvPr id="22" name="txt22"/>
          <p:cNvSpPr txBox="1"/>
          <p:nvPr/>
        </p:nvSpPr>
        <p:spPr>
          <a:xfrm>
            <a:off x="2196125" y="4923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yuè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3339125" y="4923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hū</a:t>
            </a:r>
          </a:p>
        </p:txBody>
      </p:sp>
      <p:sp>
        <p:nvSpPr>
          <p:cNvPr id="24" name="txt24"/>
          <p:cNvSpPr txBox="1"/>
          <p:nvPr/>
        </p:nvSpPr>
        <p:spPr>
          <a:xfrm>
            <a:off x="188165" y="535314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is it not a pleasure?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1.1 · Analects 1.1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4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8122920" cy="8077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89875" y="1547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yǒu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1053125" y="1547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péng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196125" y="1547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zì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3339125" y="1547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yuǎn</a:t>
            </a:r>
          </a:p>
        </p:txBody>
      </p:sp>
      <p:sp>
        <p:nvSpPr>
          <p:cNvPr id="13" name="txt13"/>
          <p:cNvSpPr txBox="1"/>
          <p:nvPr/>
        </p:nvSpPr>
        <p:spPr>
          <a:xfrm>
            <a:off x="4482125" y="1547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fāng</a:t>
            </a:r>
          </a:p>
        </p:txBody>
      </p:sp>
      <p:sp>
        <p:nvSpPr>
          <p:cNvPr id="14" name="txt14"/>
          <p:cNvSpPr txBox="1"/>
          <p:nvPr/>
        </p:nvSpPr>
        <p:spPr>
          <a:xfrm>
            <a:off x="5625125" y="1547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lái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188165" y="197772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To have friends coming from distant places —</a:t>
            </a:r>
          </a:p>
        </p:txBody>
      </p:sp>
      <p:pic>
        <p:nvPicPr>
          <p:cNvPr id="16" name="img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607720"/>
            <a:ext cx="5836920" cy="80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xt17"/>
          <p:cNvSpPr txBox="1"/>
          <p:nvPr/>
        </p:nvSpPr>
        <p:spPr>
          <a:xfrm>
            <a:off x="-89875" y="34554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1053125" y="34554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yì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2196125" y="34554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lè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3339125" y="34554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hū</a:t>
            </a:r>
          </a:p>
        </p:txBody>
      </p:sp>
      <p:sp>
        <p:nvSpPr>
          <p:cNvPr id="21" name="txt21"/>
          <p:cNvSpPr txBox="1"/>
          <p:nvPr/>
        </p:nvSpPr>
        <p:spPr>
          <a:xfrm>
            <a:off x="188165" y="388544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is it not delightful?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1.1 · Analects 1.1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5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8122920" cy="7543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89875" y="14943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rén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1053125" y="14943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196125" y="14943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zhī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3339125" y="14943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ér</a:t>
            </a:r>
          </a:p>
        </p:txBody>
      </p:sp>
      <p:sp>
        <p:nvSpPr>
          <p:cNvPr id="13" name="txt13"/>
          <p:cNvSpPr txBox="1"/>
          <p:nvPr/>
        </p:nvSpPr>
        <p:spPr>
          <a:xfrm>
            <a:off x="4482125" y="14943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14" name="txt14"/>
          <p:cNvSpPr txBox="1"/>
          <p:nvPr/>
        </p:nvSpPr>
        <p:spPr>
          <a:xfrm>
            <a:off x="5625125" y="14943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yùn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188165" y="19243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To feel no resentment though others take no note of you —</a:t>
            </a:r>
          </a:p>
        </p:txBody>
      </p:sp>
      <p:pic>
        <p:nvPicPr>
          <p:cNvPr id="16" name="img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554380"/>
            <a:ext cx="8122920" cy="80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xt17"/>
          <p:cNvSpPr txBox="1"/>
          <p:nvPr/>
        </p:nvSpPr>
        <p:spPr>
          <a:xfrm>
            <a:off x="-89875" y="34021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1053125" y="34021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yì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2196125" y="34021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jūn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3339125" y="34021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zǐ</a:t>
            </a:r>
          </a:p>
        </p:txBody>
      </p:sp>
      <p:sp>
        <p:nvSpPr>
          <p:cNvPr id="21" name="txt21"/>
          <p:cNvSpPr txBox="1"/>
          <p:nvPr/>
        </p:nvSpPr>
        <p:spPr>
          <a:xfrm>
            <a:off x="4482125" y="34021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hū</a:t>
            </a:r>
          </a:p>
        </p:txBody>
      </p:sp>
      <p:sp>
        <p:nvSpPr>
          <p:cNvPr id="22" name="txt22"/>
          <p:cNvSpPr txBox="1"/>
          <p:nvPr/>
        </p:nvSpPr>
        <p:spPr>
          <a:xfrm>
            <a:off x="188165" y="383210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is that not the mark of a true gentleman?”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1.1 · Analects 1.1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6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50000"/>
            <a:ext cx="195072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6607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shēng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74832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cí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368885" y="900000"/>
            <a:ext cx="4500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8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Key Words · Analects 1.1</a:t>
            </a:r>
          </a:p>
        </p:txBody>
      </p:sp>
      <p:sp>
        <p:nvSpPr>
          <p:cNvPr id="12" name="rect12"/>
          <p:cNvSpPr/>
          <p:nvPr/>
        </p:nvSpPr>
        <p:spPr>
          <a:xfrm>
            <a:off x="168165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13" name="img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463" y="3200000"/>
            <a:ext cx="1203960" cy="7696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xt14"/>
          <p:cNvSpPr txBox="1"/>
          <p:nvPr/>
        </p:nvSpPr>
        <p:spPr>
          <a:xfrm>
            <a:off x="168165" y="406962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xué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318165" y="452962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to learn, to study</a:t>
            </a:r>
          </a:p>
        </p:txBody>
      </p:sp>
      <p:sp>
        <p:nvSpPr>
          <p:cNvPr id="16" name="rect16"/>
          <p:cNvSpPr/>
          <p:nvPr/>
        </p:nvSpPr>
        <p:spPr>
          <a:xfrm>
            <a:off x="3170721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17" name="img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0019" y="3200000"/>
            <a:ext cx="1203960" cy="6781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xt18"/>
          <p:cNvSpPr txBox="1"/>
          <p:nvPr/>
        </p:nvSpPr>
        <p:spPr>
          <a:xfrm>
            <a:off x="3170721" y="397818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péng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3320721" y="443818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a friend</a:t>
            </a:r>
          </a:p>
        </p:txBody>
      </p:sp>
      <p:sp>
        <p:nvSpPr>
          <p:cNvPr id="20" name="rect20"/>
          <p:cNvSpPr/>
          <p:nvPr/>
        </p:nvSpPr>
        <p:spPr>
          <a:xfrm>
            <a:off x="6173277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21" name="img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7745" y="3200000"/>
            <a:ext cx="2293620" cy="754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xt22"/>
          <p:cNvSpPr txBox="1"/>
          <p:nvPr/>
        </p:nvSpPr>
        <p:spPr>
          <a:xfrm>
            <a:off x="6173277" y="405438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jūn zǐ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6323277" y="451438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a gentleman; person of virtue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1.2 · Analects 1.2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7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3962399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50835" y="14258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Yǒu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809285" y="14258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zǐ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1769405" y="14258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yuē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188165" y="185580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The philosopher You said,</a:t>
            </a:r>
          </a:p>
        </p:txBody>
      </p:sp>
      <p:pic>
        <p:nvPicPr>
          <p:cNvPr id="13" name="img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345800"/>
            <a:ext cx="8807670" cy="78950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xt14"/>
          <p:cNvSpPr txBox="1"/>
          <p:nvPr/>
        </p:nvSpPr>
        <p:spPr>
          <a:xfrm>
            <a:off x="974740" y="317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qí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2061212" y="317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wéi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3147685" y="317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rén</a:t>
            </a:r>
          </a:p>
        </p:txBody>
      </p:sp>
      <p:sp>
        <p:nvSpPr>
          <p:cNvPr id="17" name="txt17"/>
          <p:cNvSpPr txBox="1"/>
          <p:nvPr/>
        </p:nvSpPr>
        <p:spPr>
          <a:xfrm>
            <a:off x="4234157" y="317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yě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5320629" y="317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xiào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6407102" y="317530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tì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188165" y="3605303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“Those who are filial and respect their elders,</a:t>
            </a:r>
          </a:p>
        </p:txBody>
      </p:sp>
      <p:pic>
        <p:nvPicPr>
          <p:cNvPr id="21" name="img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165" y="4095303"/>
            <a:ext cx="8807670" cy="68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xt22"/>
          <p:cNvSpPr txBox="1"/>
          <p:nvPr/>
        </p:nvSpPr>
        <p:spPr>
          <a:xfrm>
            <a:off x="-157864" y="4825215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ér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809303" y="4825215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hào</a:t>
            </a:r>
          </a:p>
        </p:txBody>
      </p:sp>
      <p:sp>
        <p:nvSpPr>
          <p:cNvPr id="24" name="txt24"/>
          <p:cNvSpPr txBox="1"/>
          <p:nvPr/>
        </p:nvSpPr>
        <p:spPr>
          <a:xfrm>
            <a:off x="1776470" y="4825215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fàn</a:t>
            </a:r>
          </a:p>
        </p:txBody>
      </p:sp>
      <p:sp>
        <p:nvSpPr>
          <p:cNvPr id="25" name="txt25"/>
          <p:cNvSpPr txBox="1"/>
          <p:nvPr/>
        </p:nvSpPr>
        <p:spPr>
          <a:xfrm>
            <a:off x="2743638" y="4825215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shàng</a:t>
            </a:r>
          </a:p>
        </p:txBody>
      </p:sp>
      <p:sp>
        <p:nvSpPr>
          <p:cNvPr id="26" name="txt26"/>
          <p:cNvSpPr txBox="1"/>
          <p:nvPr/>
        </p:nvSpPr>
        <p:spPr>
          <a:xfrm>
            <a:off x="3710805" y="4825215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zhě</a:t>
            </a:r>
          </a:p>
        </p:txBody>
      </p:sp>
      <p:sp>
        <p:nvSpPr>
          <p:cNvPr id="27" name="txt27"/>
          <p:cNvSpPr txBox="1"/>
          <p:nvPr/>
        </p:nvSpPr>
        <p:spPr>
          <a:xfrm>
            <a:off x="5645140" y="4825215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xiǎn</a:t>
            </a:r>
          </a:p>
        </p:txBody>
      </p:sp>
      <p:sp>
        <p:nvSpPr>
          <p:cNvPr id="28" name="txt28"/>
          <p:cNvSpPr txBox="1"/>
          <p:nvPr/>
        </p:nvSpPr>
        <p:spPr>
          <a:xfrm>
            <a:off x="6612307" y="4825215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yǐ</a:t>
            </a:r>
          </a:p>
        </p:txBody>
      </p:sp>
      <p:sp>
        <p:nvSpPr>
          <p:cNvPr id="29" name="txt29"/>
          <p:cNvSpPr txBox="1"/>
          <p:nvPr/>
        </p:nvSpPr>
        <p:spPr>
          <a:xfrm>
            <a:off x="188165" y="5255215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yet love to offend against their superiors — such people are few;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1.2 · Analects 1.2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8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5836920" cy="7391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89875" y="1479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bù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1053125" y="1479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hào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196125" y="1479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fàn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3339125" y="147914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shàng</a:t>
            </a:r>
          </a:p>
        </p:txBody>
      </p:sp>
      <p:sp>
        <p:nvSpPr>
          <p:cNvPr id="13" name="txt13"/>
          <p:cNvSpPr txBox="1"/>
          <p:nvPr/>
        </p:nvSpPr>
        <p:spPr>
          <a:xfrm>
            <a:off x="188165" y="190914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One who does not like to offend against his superiors,</a:t>
            </a:r>
          </a:p>
        </p:txBody>
      </p:sp>
      <p:pic>
        <p:nvPicPr>
          <p:cNvPr id="14" name="img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399140"/>
            <a:ext cx="6979920" cy="8153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xt15"/>
          <p:cNvSpPr txBox="1"/>
          <p:nvPr/>
        </p:nvSpPr>
        <p:spPr>
          <a:xfrm>
            <a:off x="-89875" y="3254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ér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1053125" y="3254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hào</a:t>
            </a:r>
          </a:p>
        </p:txBody>
      </p:sp>
      <p:sp>
        <p:nvSpPr>
          <p:cNvPr id="17" name="txt17"/>
          <p:cNvSpPr txBox="1"/>
          <p:nvPr/>
        </p:nvSpPr>
        <p:spPr>
          <a:xfrm>
            <a:off x="2196125" y="3254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zuò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3339125" y="3254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luàn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4482125" y="3254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zhě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188165" y="36844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and yet loves to stir up disorder —</a:t>
            </a:r>
          </a:p>
        </p:txBody>
      </p:sp>
      <p:pic>
        <p:nvPicPr>
          <p:cNvPr id="21" name="img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165" y="4174480"/>
            <a:ext cx="583692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xt22"/>
          <p:cNvSpPr txBox="1"/>
          <p:nvPr/>
        </p:nvSpPr>
        <p:spPr>
          <a:xfrm>
            <a:off x="-89875" y="5014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wèi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1053125" y="5014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zhī</a:t>
            </a:r>
          </a:p>
        </p:txBody>
      </p:sp>
      <p:sp>
        <p:nvSpPr>
          <p:cNvPr id="24" name="txt24"/>
          <p:cNvSpPr txBox="1"/>
          <p:nvPr/>
        </p:nvSpPr>
        <p:spPr>
          <a:xfrm>
            <a:off x="2196125" y="5014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yǒu</a:t>
            </a:r>
          </a:p>
        </p:txBody>
      </p:sp>
      <p:sp>
        <p:nvSpPr>
          <p:cNvPr id="25" name="txt25"/>
          <p:cNvSpPr txBox="1"/>
          <p:nvPr/>
        </p:nvSpPr>
        <p:spPr>
          <a:xfrm>
            <a:off x="3339125" y="5014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yě</a:t>
            </a:r>
          </a:p>
        </p:txBody>
      </p:sp>
      <p:sp>
        <p:nvSpPr>
          <p:cNvPr id="26" name="txt26"/>
          <p:cNvSpPr txBox="1"/>
          <p:nvPr/>
        </p:nvSpPr>
        <p:spPr>
          <a:xfrm>
            <a:off x="188165" y="54445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there has never been such a person.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1.2 · Analects 1.2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9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5836920" cy="7924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89875" y="1532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jūn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1053125" y="1532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zǐ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196125" y="1532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wù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3339125" y="15324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běn</a:t>
            </a:r>
          </a:p>
        </p:txBody>
      </p:sp>
      <p:sp>
        <p:nvSpPr>
          <p:cNvPr id="13" name="txt13"/>
          <p:cNvSpPr txBox="1"/>
          <p:nvPr/>
        </p:nvSpPr>
        <p:spPr>
          <a:xfrm>
            <a:off x="188165" y="19624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The gentleman attends to the root of things;</a:t>
            </a:r>
          </a:p>
        </p:txBody>
      </p:sp>
      <p:pic>
        <p:nvPicPr>
          <p:cNvPr id="14" name="img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592480"/>
            <a:ext cx="697992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xt15"/>
          <p:cNvSpPr txBox="1"/>
          <p:nvPr/>
        </p:nvSpPr>
        <p:spPr>
          <a:xfrm>
            <a:off x="-8987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běn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105312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lì</a:t>
            </a:r>
          </a:p>
        </p:txBody>
      </p:sp>
      <p:sp>
        <p:nvSpPr>
          <p:cNvPr id="17" name="txt17"/>
          <p:cNvSpPr txBox="1"/>
          <p:nvPr/>
        </p:nvSpPr>
        <p:spPr>
          <a:xfrm>
            <a:off x="219612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ér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333912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dào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4482125" y="340972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shēng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188165" y="383972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when the root is established, the Way grows from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1.2 · Analects 1.2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10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5836920" cy="8305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89875" y="1570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xiào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1053125" y="1570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tì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196125" y="1570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yě</a:t>
            </a:r>
          </a:p>
        </p:txBody>
      </p:sp>
      <p:sp>
        <p:nvSpPr>
          <p:cNvPr id="12" name="txt12"/>
          <p:cNvSpPr txBox="1"/>
          <p:nvPr/>
        </p:nvSpPr>
        <p:spPr>
          <a:xfrm>
            <a:off x="3339125" y="15705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zhě</a:t>
            </a:r>
          </a:p>
        </p:txBody>
      </p:sp>
      <p:sp>
        <p:nvSpPr>
          <p:cNvPr id="13" name="txt13"/>
          <p:cNvSpPr txBox="1"/>
          <p:nvPr/>
        </p:nvSpPr>
        <p:spPr>
          <a:xfrm>
            <a:off x="188165" y="20005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Filial piety and respect for elders —</a:t>
            </a:r>
          </a:p>
        </p:txBody>
      </p:sp>
      <p:pic>
        <p:nvPicPr>
          <p:cNvPr id="14" name="img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630580"/>
            <a:ext cx="8807670" cy="76777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xt15"/>
          <p:cNvSpPr txBox="1"/>
          <p:nvPr/>
        </p:nvSpPr>
        <p:spPr>
          <a:xfrm>
            <a:off x="-111733" y="343835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qí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974740" y="343835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wéi</a:t>
            </a:r>
          </a:p>
        </p:txBody>
      </p:sp>
      <p:sp>
        <p:nvSpPr>
          <p:cNvPr id="17" name="txt17"/>
          <p:cNvSpPr txBox="1"/>
          <p:nvPr/>
        </p:nvSpPr>
        <p:spPr>
          <a:xfrm>
            <a:off x="2061212" y="343835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rén</a:t>
            </a:r>
          </a:p>
        </p:txBody>
      </p:sp>
      <p:sp>
        <p:nvSpPr>
          <p:cNvPr id="18" name="txt18"/>
          <p:cNvSpPr txBox="1"/>
          <p:nvPr/>
        </p:nvSpPr>
        <p:spPr>
          <a:xfrm>
            <a:off x="3147685" y="343835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zhī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4234157" y="343835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běn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5320629" y="3438353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yú</a:t>
            </a:r>
          </a:p>
        </p:txBody>
      </p:sp>
      <p:sp>
        <p:nvSpPr>
          <p:cNvPr id="21" name="txt21"/>
          <p:cNvSpPr txBox="1"/>
          <p:nvPr/>
        </p:nvSpPr>
        <p:spPr>
          <a:xfrm>
            <a:off x="188165" y="3868353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are they not the root of all benevolent action?”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1.2 · Analects 1.2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11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50000"/>
            <a:ext cx="195072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6607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shēng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74832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cí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368885" y="900000"/>
            <a:ext cx="4500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8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Key Words · Analects 1.2</a:t>
            </a:r>
          </a:p>
        </p:txBody>
      </p:sp>
      <p:sp>
        <p:nvSpPr>
          <p:cNvPr id="12" name="rect12"/>
          <p:cNvSpPr/>
          <p:nvPr/>
        </p:nvSpPr>
        <p:spPr>
          <a:xfrm>
            <a:off x="168165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13" name="img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463" y="3200000"/>
            <a:ext cx="120396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xt14"/>
          <p:cNvSpPr txBox="1"/>
          <p:nvPr/>
        </p:nvSpPr>
        <p:spPr>
          <a:xfrm>
            <a:off x="168165" y="407724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xiào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318165" y="453724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filial piety</a:t>
            </a:r>
          </a:p>
        </p:txBody>
      </p:sp>
      <p:sp>
        <p:nvSpPr>
          <p:cNvPr id="16" name="rect16"/>
          <p:cNvSpPr/>
          <p:nvPr/>
        </p:nvSpPr>
        <p:spPr>
          <a:xfrm>
            <a:off x="3170721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17" name="img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0019" y="3200000"/>
            <a:ext cx="1203960" cy="79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xt18"/>
          <p:cNvSpPr txBox="1"/>
          <p:nvPr/>
        </p:nvSpPr>
        <p:spPr>
          <a:xfrm>
            <a:off x="3170721" y="409248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tì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3320721" y="455248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respect for elders</a:t>
            </a:r>
          </a:p>
        </p:txBody>
      </p:sp>
      <p:sp>
        <p:nvSpPr>
          <p:cNvPr id="20" name="rect20"/>
          <p:cNvSpPr/>
          <p:nvPr/>
        </p:nvSpPr>
        <p:spPr>
          <a:xfrm>
            <a:off x="6173277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21" name="img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2575" y="3200000"/>
            <a:ext cx="1203960" cy="74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xt22"/>
          <p:cNvSpPr txBox="1"/>
          <p:nvPr/>
        </p:nvSpPr>
        <p:spPr>
          <a:xfrm>
            <a:off x="6173277" y="404676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běn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6323277" y="450676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root; foundation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1.3 · Analects 1.3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12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00000"/>
            <a:ext cx="30022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50835" y="13800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Zǐ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809285" y="13800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yuē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188165" y="18100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The Master said,</a:t>
            </a:r>
          </a:p>
        </p:txBody>
      </p:sp>
      <p:pic>
        <p:nvPicPr>
          <p:cNvPr id="12" name="img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65" y="2300080"/>
            <a:ext cx="697992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xt13"/>
          <p:cNvSpPr txBox="1"/>
          <p:nvPr/>
        </p:nvSpPr>
        <p:spPr>
          <a:xfrm>
            <a:off x="1053125" y="31401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qiǎo</a:t>
            </a:r>
          </a:p>
        </p:txBody>
      </p:sp>
      <p:sp>
        <p:nvSpPr>
          <p:cNvPr id="14" name="txt14"/>
          <p:cNvSpPr txBox="1"/>
          <p:nvPr/>
        </p:nvSpPr>
        <p:spPr>
          <a:xfrm>
            <a:off x="2196125" y="31401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yán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3339125" y="31401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lìng</a:t>
            </a:r>
          </a:p>
        </p:txBody>
      </p:sp>
      <p:sp>
        <p:nvSpPr>
          <p:cNvPr id="16" name="txt16"/>
          <p:cNvSpPr txBox="1"/>
          <p:nvPr/>
        </p:nvSpPr>
        <p:spPr>
          <a:xfrm>
            <a:off x="4482125" y="314018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sè</a:t>
            </a:r>
          </a:p>
        </p:txBody>
      </p:sp>
      <p:sp>
        <p:nvSpPr>
          <p:cNvPr id="17" name="txt17"/>
          <p:cNvSpPr txBox="1"/>
          <p:nvPr/>
        </p:nvSpPr>
        <p:spPr>
          <a:xfrm>
            <a:off x="188165" y="357018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“Fine words and an insinuating appearance</a:t>
            </a:r>
          </a:p>
        </p:txBody>
      </p:sp>
      <p:pic>
        <p:nvPicPr>
          <p:cNvPr id="18" name="img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165" y="4060180"/>
            <a:ext cx="5836920" cy="80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xt19"/>
          <p:cNvSpPr txBox="1"/>
          <p:nvPr/>
        </p:nvSpPr>
        <p:spPr>
          <a:xfrm>
            <a:off x="-89875" y="49079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xiǎn</a:t>
            </a:r>
          </a:p>
        </p:txBody>
      </p:sp>
      <p:sp>
        <p:nvSpPr>
          <p:cNvPr id="20" name="txt20"/>
          <p:cNvSpPr txBox="1"/>
          <p:nvPr/>
        </p:nvSpPr>
        <p:spPr>
          <a:xfrm>
            <a:off x="1053125" y="49079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yǐ</a:t>
            </a:r>
          </a:p>
        </p:txBody>
      </p:sp>
      <p:sp>
        <p:nvSpPr>
          <p:cNvPr id="21" name="txt21"/>
          <p:cNvSpPr txBox="1"/>
          <p:nvPr/>
        </p:nvSpPr>
        <p:spPr>
          <a:xfrm>
            <a:off x="2196125" y="49079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rén</a:t>
            </a:r>
          </a:p>
        </p:txBody>
      </p:sp>
      <p:sp>
        <p:nvSpPr>
          <p:cNvPr id="22" name="txt22"/>
          <p:cNvSpPr txBox="1"/>
          <p:nvPr/>
        </p:nvSpPr>
        <p:spPr>
          <a:xfrm>
            <a:off x="188165" y="5337900"/>
            <a:ext cx="8767670" cy="7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23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are seldom associated with true virtue.”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4375835" y="170000"/>
            <a:ext cx="4600000" cy="3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400" b="1" u="none">
                <a:solidFill>
                  <a:srgbClr val="9C3626"/>
                </a:solidFill>
                <a:latin typeface="Calibri"/>
                <a:ea typeface="Microsoft JhengHei"/>
                <a:cs typeface="Calibri"/>
              </a:rPr>
              <a:t>學而 1.3 · Analects 1.3</a:t>
            </a:r>
          </a:p>
        </p:txBody>
      </p:sp>
      <p:sp>
        <p:nvSpPr>
          <p:cNvPr id="5" name="rect5"/>
          <p:cNvSpPr/>
          <p:nvPr/>
        </p:nvSpPr>
        <p:spPr>
          <a:xfrm>
            <a:off x="168165" y="560000"/>
            <a:ext cx="8807670" cy="15000"/>
          </a:xfrm>
          <a:prstGeom prst="rect">
            <a:avLst/>
          </a:prstGeom>
          <a:solidFill>
            <a:srgbClr val="D9C9A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t6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7" name="txt7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13 / 14</a:t>
            </a:r>
          </a:p>
        </p:txBody>
      </p:sp>
      <p:pic>
        <p:nvPicPr>
          <p:cNvPr id="8" name="img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165" y="750000"/>
            <a:ext cx="195072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xt9"/>
          <p:cNvSpPr txBox="1"/>
          <p:nvPr/>
        </p:nvSpPr>
        <p:spPr>
          <a:xfrm>
            <a:off x="-16607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shēng</a:t>
            </a:r>
          </a:p>
        </p:txBody>
      </p:sp>
      <p:sp>
        <p:nvSpPr>
          <p:cNvPr id="10" name="txt10"/>
          <p:cNvSpPr txBox="1"/>
          <p:nvPr/>
        </p:nvSpPr>
        <p:spPr>
          <a:xfrm>
            <a:off x="748325" y="13996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="t" wrap="non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cí</a:t>
            </a:r>
          </a:p>
        </p:txBody>
      </p:sp>
      <p:sp>
        <p:nvSpPr>
          <p:cNvPr id="11" name="txt11"/>
          <p:cNvSpPr txBox="1"/>
          <p:nvPr/>
        </p:nvSpPr>
        <p:spPr>
          <a:xfrm>
            <a:off x="2368885" y="900000"/>
            <a:ext cx="4500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8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Key Words · Analects 1.3</a:t>
            </a:r>
          </a:p>
        </p:txBody>
      </p:sp>
      <p:sp>
        <p:nvSpPr>
          <p:cNvPr id="12" name="rect12"/>
          <p:cNvSpPr/>
          <p:nvPr/>
        </p:nvSpPr>
        <p:spPr>
          <a:xfrm>
            <a:off x="168165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13" name="img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633" y="3200000"/>
            <a:ext cx="22936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xt14"/>
          <p:cNvSpPr txBox="1"/>
          <p:nvPr/>
        </p:nvSpPr>
        <p:spPr>
          <a:xfrm>
            <a:off x="168165" y="403152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qiǎo yán</a:t>
            </a:r>
          </a:p>
        </p:txBody>
      </p:sp>
      <p:sp>
        <p:nvSpPr>
          <p:cNvPr id="15" name="txt15"/>
          <p:cNvSpPr txBox="1"/>
          <p:nvPr/>
        </p:nvSpPr>
        <p:spPr>
          <a:xfrm>
            <a:off x="318165" y="449152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clever words</a:t>
            </a:r>
          </a:p>
        </p:txBody>
      </p:sp>
      <p:sp>
        <p:nvSpPr>
          <p:cNvPr id="16" name="rect16"/>
          <p:cNvSpPr/>
          <p:nvPr/>
        </p:nvSpPr>
        <p:spPr>
          <a:xfrm>
            <a:off x="3170721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17" name="img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5189" y="3200000"/>
            <a:ext cx="2293620" cy="746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xt18"/>
          <p:cNvSpPr txBox="1"/>
          <p:nvPr/>
        </p:nvSpPr>
        <p:spPr>
          <a:xfrm>
            <a:off x="3170721" y="404676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lìng sè</a:t>
            </a:r>
          </a:p>
        </p:txBody>
      </p:sp>
      <p:sp>
        <p:nvSpPr>
          <p:cNvPr id="19" name="txt19"/>
          <p:cNvSpPr txBox="1"/>
          <p:nvPr/>
        </p:nvSpPr>
        <p:spPr>
          <a:xfrm>
            <a:off x="3320721" y="450676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a flattering face</a:t>
            </a:r>
          </a:p>
        </p:txBody>
      </p:sp>
      <p:sp>
        <p:nvSpPr>
          <p:cNvPr id="20" name="rect20"/>
          <p:cNvSpPr/>
          <p:nvPr/>
        </p:nvSpPr>
        <p:spPr>
          <a:xfrm>
            <a:off x="6173277" y="2850000"/>
            <a:ext cx="2802556" cy="3050000"/>
          </a:xfrm>
          <a:prstGeom prst="roundRect">
            <a:avLst/>
          </a:prstGeom>
          <a:solidFill>
            <a:srgbClr val="F4ECDD"/>
          </a:solidFill>
          <a:ln w="9525">
            <a:solidFill>
              <a:srgbClr val="D9C9AD"/>
            </a:solidFill>
          </a:ln>
        </p:spPr>
        <p:txBody>
          <a:bodyPr/>
          <a:lstStyle/>
          <a:p/>
        </p:txBody>
      </p:sp>
      <p:pic>
        <p:nvPicPr>
          <p:cNvPr id="21" name="img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2575" y="3200000"/>
            <a:ext cx="1203960" cy="701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xt22"/>
          <p:cNvSpPr txBox="1"/>
          <p:nvPr/>
        </p:nvSpPr>
        <p:spPr>
          <a:xfrm>
            <a:off x="6173277" y="4001040"/>
            <a:ext cx="2802556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4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rén</a:t>
            </a:r>
          </a:p>
        </p:txBody>
      </p:sp>
      <p:sp>
        <p:nvSpPr>
          <p:cNvPr id="23" name="txt23"/>
          <p:cNvSpPr txBox="1"/>
          <p:nvPr/>
        </p:nvSpPr>
        <p:spPr>
          <a:xfrm>
            <a:off x="6323277" y="4461040"/>
            <a:ext cx="2502556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17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true virtue; benevolence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xt4"/>
          <p:cNvSpPr txBox="1"/>
          <p:nvPr/>
        </p:nvSpPr>
        <p:spPr>
          <a:xfrm>
            <a:off x="168165" y="6558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論語 · 學而篇 | The Analects · Book One</a:t>
            </a:r>
          </a:p>
        </p:txBody>
      </p:sp>
      <p:sp>
        <p:nvSpPr>
          <p:cNvPr id="5" name="txt5"/>
          <p:cNvSpPr txBox="1"/>
          <p:nvPr/>
        </p:nvSpPr>
        <p:spPr>
          <a:xfrm>
            <a:off x="6975835" y="6558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r">
              <a:buNone/>
            </a:pPr>
            <a:r>
              <a:rPr lang="en-US" sz="1000" u="none">
                <a:solidFill>
                  <a:srgbClr val="9C8F7C"/>
                </a:solidFill>
                <a:latin typeface="Calibri"/>
                <a:ea typeface="Microsoft JhengHei"/>
                <a:cs typeface="Calibri"/>
              </a:rPr>
              <a:t>14 / 14</a:t>
            </a:r>
          </a:p>
        </p:txBody>
      </p:sp>
      <p:sp>
        <p:nvSpPr>
          <p:cNvPr id="6" name="rect6"/>
          <p:cNvSpPr/>
          <p:nvPr/>
        </p:nvSpPr>
        <p:spPr>
          <a:xfrm>
            <a:off x="4122000" y="1500000"/>
            <a:ext cx="900000" cy="28000"/>
          </a:xfrm>
          <a:prstGeom prst="rect">
            <a:avLst/>
          </a:prstGeom>
          <a:solidFill>
            <a:srgbClr val="9C362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7" name="img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740" y="2000000"/>
            <a:ext cx="492252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xt8"/>
          <p:cNvSpPr txBox="1"/>
          <p:nvPr/>
        </p:nvSpPr>
        <p:spPr>
          <a:xfrm>
            <a:off x="0" y="3111560"/>
            <a:ext cx="9144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3000" u="none">
                <a:solidFill>
                  <a:srgbClr val="7A6A55"/>
                </a:solidFill>
                <a:latin typeface="Calibri"/>
                <a:ea typeface="Microsoft JhengHei"/>
                <a:cs typeface="Calibri"/>
              </a:rPr>
              <a:t>Xiè xie!</a:t>
            </a:r>
          </a:p>
        </p:txBody>
      </p:sp>
      <p:sp>
        <p:nvSpPr>
          <p:cNvPr id="9" name="txt9"/>
          <p:cNvSpPr txBox="1"/>
          <p:nvPr/>
        </p:nvSpPr>
        <p:spPr>
          <a:xfrm>
            <a:off x="400000" y="3841560"/>
            <a:ext cx="8344000" cy="43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en-US" sz="2200" u="none">
                <a:solidFill>
                  <a:srgbClr val="2F5D7C"/>
                </a:solidFill>
                <a:latin typeface="Calibri"/>
                <a:ea typeface="Microsoft JhengHei"/>
                <a:cs typeface="Calibri"/>
              </a:rPr>
              <a:t>Thank you! · Coming next: Analects 1.4 – 1.16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shun</dc:creator>
</cp:coreProperties>
</file>